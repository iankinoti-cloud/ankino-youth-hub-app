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140"/>
                </a:solidFill>
                <a:latin typeface="Calibri"/>
              </a:rPr>
              <a:t>// PROJECT PROPOSAL  ·  ANKINO YOUTH HUB  ·  MAY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600" b="1" i="0">
                <a:solidFill>
                  <a:srgbClr val="00B140"/>
                </a:solidFill>
                <a:latin typeface="Calibri"/>
              </a:rPr>
              <a:t>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600" b="1" i="0">
                <a:solidFill>
                  <a:srgbClr val="E8F5E9"/>
                </a:solidFill>
                <a:latin typeface="Calibri"/>
              </a:rPr>
              <a:t>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29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7AAB7A"/>
                </a:solidFill>
                <a:latin typeface="Calibri"/>
              </a:rPr>
              <a:t>Ankino Youth Hub — Bridging Kenya's Youth Talent to Economic Opportunity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206240"/>
            <a:ext cx="4572000" cy="36576"/>
          </a:xfrm>
          <a:prstGeom prst="rect">
            <a:avLst/>
          </a:prstGeom>
          <a:solidFill>
            <a:srgbClr val="0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AB7A"/>
                </a:solidFill>
                <a:latin typeface="Calibri"/>
              </a:rPr>
              <a:t>Submitted by: Ian Kinoti   ·   kinotiian12@gmail.com   ·   github.com/iankinoti-cloud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AB7A"/>
                </a:solidFill>
                <a:latin typeface="Calibri"/>
              </a:rPr>
              <a:t>Organisation: Ankino Youth Hub   ·   Date: May 2026   ·   Version: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206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AB7A"/>
                </a:solidFill>
                <a:latin typeface="Calibri"/>
              </a:rPr>
              <a:t>Category: Digital Platform  ·  Sector: Youth Employment &amp; Technology  ·  Geography: Kenya / East Africa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140"/>
                </a:solidFill>
                <a:latin typeface="Calibri"/>
              </a:rPr>
              <a:t>// 01 —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140"/>
                </a:solidFill>
                <a:latin typeface="Calibri"/>
              </a:rPr>
              <a:t>The Problem We Are Solving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27432"/>
          </a:xfrm>
          <a:prstGeom prst="rect">
            <a:avLst/>
          </a:prstGeom>
          <a:solidFill>
            <a:srgbClr val="0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67% of Kenya's unemployed are youth aged 15–34  (KNBS 2024)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12264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26 million Kenyans are under the age of 35 — the largest talent pool in East Africa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24328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Tech opportunities exist: hackathons, internships, scholarships, grants,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36392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These opportunities are fragmented across 30+ separate platforms and social channels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48456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Youth from outside Nairobi have near-zero awareness of available pathways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60520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Kenya loses skilled talent annually to uncertainty — not lack of 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672584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No single digital platform currently aggregates, organises, and enables access for Kenyan youth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140"/>
                </a:solidFill>
                <a:latin typeface="Calibri"/>
              </a:rPr>
              <a:t>// 02 —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140"/>
                </a:solidFill>
                <a:latin typeface="Calibri"/>
              </a:rPr>
              <a:t>What Ankino Youth Hub Delivers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27432"/>
          </a:xfrm>
          <a:prstGeom prst="rect">
            <a:avLst/>
          </a:prstGeom>
          <a:solidFill>
            <a:srgbClr val="0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A centralised digital platform aggregating hackathons, internships, scholarships &amp; startup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12264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AI chatbot mentor with deep Kenya tech ecosystem and Safaricom Daraja API 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24328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Live Nairobi tech events calendar — searchable, tagged, and updated in real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36392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Youth startup showcase — Kenya-born ventures profiled and discoverable by investors &amp; peers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48456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M-PESA integration via Safaricom Daraja STK Push for seamless membership and event payments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60520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Firebase Firestore backend capturing real behaviour data — clicks, registrations, subscribers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672584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Deployed to Azure Static Web Apps — globally accessible, free to use, always 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140"/>
                </a:solidFill>
                <a:latin typeface="Calibri"/>
              </a:rPr>
              <a:t>// 03 — OBJECTIVES &amp;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140"/>
                </a:solidFill>
                <a:latin typeface="Calibri"/>
              </a:rPr>
              <a:t>What Success Looks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27432"/>
          </a:xfrm>
          <a:prstGeom prst="rect">
            <a:avLst/>
          </a:prstGeom>
          <a:solidFill>
            <a:srgbClr val="0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140"/>
                </a:solidFill>
                <a:latin typeface="Calibri"/>
              </a:rPr>
              <a:t>Primary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600200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9"/>
                </a:solidFill>
                <a:latin typeface="Calibri"/>
              </a:rPr>
              <a:t>Connect 50,000 Kenyan youth to verified opportunities within 12 months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140"/>
                </a:solidFill>
                <a:latin typeface="Calibri"/>
              </a:rPr>
              <a:t>Data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148840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9"/>
                </a:solidFill>
                <a:latin typeface="Calibri"/>
              </a:rPr>
              <a:t>Build Kenya's first behavioural dataset on youth opportunity interest by county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140"/>
                </a:solidFill>
                <a:latin typeface="Calibri"/>
              </a:rPr>
              <a:t>Ecosystem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697480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9"/>
                </a:solidFill>
                <a:latin typeface="Calibri"/>
              </a:rPr>
              <a:t>Partner with 10+ corporates (Safaricom, Equity, Microsoft) for live data feeds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140"/>
                </a:solidFill>
                <a:latin typeface="Calibri"/>
              </a:rPr>
              <a:t>Revenue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246120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9"/>
                </a:solidFill>
                <a:latin typeface="Calibri"/>
              </a:rPr>
              <a:t>Reach KES 500,000/month within 18 months via sponsored listings and M-PESA tiers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140"/>
                </a:solidFill>
                <a:latin typeface="Calibri"/>
              </a:rPr>
              <a:t>Scale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794760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9"/>
                </a:solidFill>
                <a:latin typeface="Calibri"/>
              </a:rPr>
              <a:t>Expand to Uganda, Tanzania, and Rwanda by end of Year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4340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140"/>
                </a:solidFill>
                <a:latin typeface="Calibri"/>
              </a:rPr>
              <a:t>Impact KPI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343400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9"/>
                </a:solidFill>
                <a:latin typeface="Calibri"/>
              </a:rPr>
              <a:t>Track % of registered members who successfully apply for an opportunity within 30 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140"/>
                </a:solidFill>
                <a:latin typeface="Calibri"/>
              </a:rPr>
              <a:t>// 04 — TARGET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140"/>
                </a:solidFill>
                <a:latin typeface="Calibri"/>
              </a:rPr>
              <a:t>Who We Serve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27432"/>
          </a:xfrm>
          <a:prstGeom prst="rect">
            <a:avLst/>
          </a:prstGeom>
          <a:solidFill>
            <a:srgbClr val="0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AB7A"/>
                </a:solidFill>
                <a:latin typeface="Calibri"/>
              </a:rPr>
              <a:t>Segment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600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AB7A"/>
                </a:solidFill>
                <a:latin typeface="Calibri"/>
              </a:rPr>
              <a:t>Age Range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6002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AB7A"/>
                </a:solidFill>
                <a:latin typeface="Calibri"/>
              </a:rPr>
              <a:t>Description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11064240" cy="18288"/>
          </a:xfrm>
          <a:prstGeom prst="rect">
            <a:avLst/>
          </a:prstGeom>
          <a:solidFill>
            <a:srgbClr val="7AA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140"/>
                </a:solidFill>
                <a:latin typeface="Calibri"/>
              </a:rPr>
              <a:t>Developers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1031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D700"/>
                </a:solidFill>
                <a:latin typeface="Calibri"/>
              </a:rPr>
              <a:t>18–32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9"/>
                </a:solidFill>
                <a:latin typeface="Calibri"/>
              </a:rPr>
              <a:t>University students, bootcamp graduates, self-taught coders across Kenya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140"/>
                </a:solidFill>
                <a:latin typeface="Calibri"/>
              </a:rPr>
              <a:t>Creators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6974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D700"/>
                </a:solidFill>
                <a:latin typeface="Calibri"/>
              </a:rPr>
              <a:t>18–30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6974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9"/>
                </a:solidFill>
                <a:latin typeface="Calibri"/>
              </a:rPr>
              <a:t>Digital artists, UI/UX designers, content creators, motion designers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140"/>
                </a:solidFill>
                <a:latin typeface="Calibri"/>
              </a:rPr>
              <a:t>Gamers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291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D700"/>
                </a:solidFill>
                <a:latin typeface="Calibri"/>
              </a:rPr>
              <a:t>16–28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2918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9"/>
                </a:solidFill>
                <a:latin typeface="Calibri"/>
              </a:rPr>
              <a:t>Game developers, esports players, gaming content creators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140"/>
                </a:solidFill>
                <a:latin typeface="Calibri"/>
              </a:rPr>
              <a:t>Founders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8862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D700"/>
                </a:solidFill>
                <a:latin typeface="Calibri"/>
              </a:rPr>
              <a:t>20–35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8862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9"/>
                </a:solidFill>
                <a:latin typeface="Calibri"/>
              </a:rPr>
              <a:t>First-time startup founders seeking funding, co-founders, and mentorship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778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AAB7A"/>
                </a:solidFill>
                <a:latin typeface="Calibri"/>
              </a:rPr>
              <a:t>Total addressable population: 26 million Kenyans under 35  ·  Urban + rural reach via mobile-first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140"/>
                </a:solidFill>
                <a:latin typeface="Calibri"/>
              </a:rPr>
              <a:t>// 05 — 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140"/>
                </a:solidFill>
                <a:latin typeface="Calibri"/>
              </a:rPr>
              <a:t>Architecture &amp;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27432"/>
          </a:xfrm>
          <a:prstGeom prst="rect">
            <a:avLst/>
          </a:prstGeom>
          <a:solidFill>
            <a:srgbClr val="0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140"/>
                </a:solidFill>
                <a:latin typeface="Calibri"/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572768"/>
            <a:ext cx="3520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5E9"/>
                </a:solidFill>
                <a:latin typeface="Calibri"/>
              </a:rPr>
              <a:t>Vite + Vanilla JS + GSAP animations + Canvas API particle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02536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140"/>
                </a:solidFill>
                <a:latin typeface="Calibri"/>
              </a:rPr>
              <a:t>AI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002536"/>
            <a:ext cx="3520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5E9"/>
                </a:solidFill>
                <a:latin typeface="Calibri"/>
              </a:rPr>
              <a:t>Custom offline NLP engine (brain.js) — zero API cost for common queries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32304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140"/>
                </a:solidFill>
                <a:latin typeface="Calibri"/>
              </a:rPr>
              <a:t>AI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432304"/>
            <a:ext cx="3520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5E9"/>
                </a:solidFill>
                <a:latin typeface="Calibri"/>
              </a:rPr>
              <a:t>Azure Functions proxy routes complex queries to Gemini / Claude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6207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140"/>
                </a:solidFill>
                <a:latin typeface="Calibri"/>
              </a:rPr>
              <a:t>Payments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862072"/>
            <a:ext cx="3520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5E9"/>
                </a:solidFill>
                <a:latin typeface="Calibri"/>
              </a:rPr>
              <a:t>Safaricom Daraja STK Push — OAuth token caching, live M-PESA endpoint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9184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140"/>
                </a:solidFill>
                <a:latin typeface="Calibri"/>
              </a:rPr>
              <a:t>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291840"/>
            <a:ext cx="3520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5E9"/>
                </a:solidFill>
                <a:latin typeface="Calibri"/>
              </a:rPr>
              <a:t>Vitest unit tests · ESLint 9 flat config enforced in CI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57276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140"/>
                </a:solidFill>
                <a:latin typeface="Calibri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572768"/>
            <a:ext cx="3520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5E9"/>
                </a:solidFill>
                <a:latin typeface="Calibri"/>
              </a:rPr>
              <a:t>Firebase Firestore — 4 live collections: members, registrations, newsletter, clicks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02536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140"/>
                </a:solidFill>
                <a:latin typeface="Calibri"/>
              </a:rPr>
              <a:t>Hosting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02536"/>
            <a:ext cx="3520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5E9"/>
                </a:solidFill>
                <a:latin typeface="Calibri"/>
              </a:rPr>
              <a:t>Azure Static Web Apps — global CDN, automatic SSL, custom domain 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32304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140"/>
                </a:solidFill>
                <a:latin typeface="Calibri"/>
              </a:rPr>
              <a:t>CI/CD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432304"/>
            <a:ext cx="3520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5E9"/>
                </a:solidFill>
                <a:latin typeface="Calibri"/>
              </a:rPr>
              <a:t>GitHub Actions — lint → test → build → deploy on every push to 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86207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140"/>
                </a:solidFill>
                <a:latin typeface="Calibri"/>
              </a:rPr>
              <a:t>Auth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862072"/>
            <a:ext cx="3520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5E9"/>
                </a:solidFill>
                <a:latin typeface="Calibri"/>
              </a:rPr>
              <a:t>Managed Identity — no hardcoded secrets · Azure Key Vault integration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291840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140"/>
                </a:solidFill>
                <a:latin typeface="Calibri"/>
              </a:rPr>
              <a:t>Observability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291840"/>
            <a:ext cx="3520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5E9"/>
                </a:solidFill>
                <a:latin typeface="Calibri"/>
              </a:rPr>
              <a:t>Firestore real-time analytics + GitHub Actions build status badges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140"/>
                </a:solidFill>
                <a:latin typeface="Calibri"/>
              </a:rPr>
              <a:t>// 06 — ROADMAP &amp;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140"/>
                </a:solidFill>
                <a:latin typeface="Calibri"/>
              </a:rPr>
              <a:t>Phased Delivery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27432"/>
          </a:xfrm>
          <a:prstGeom prst="rect">
            <a:avLst/>
          </a:prstGeom>
          <a:solidFill>
            <a:srgbClr val="0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140"/>
                </a:solidFill>
                <a:latin typeface="Calibri"/>
              </a:rPr>
              <a:t>Phase 0  ·  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600200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9"/>
                </a:solidFill>
                <a:latin typeface="Calibri"/>
              </a:rPr>
              <a:t>MVP live on Azure — Firestore, chatbot, M-PESA, CI/CD pipeline fully operational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140"/>
                </a:solidFill>
                <a:latin typeface="Calibri"/>
              </a:rPr>
              <a:t>Phase 1  ·  Month 1–3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148840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9"/>
                </a:solidFill>
                <a:latin typeface="Calibri"/>
              </a:rPr>
              <a:t>Launch county-level member onboarding; partner with 3 Nairobi universities for 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140"/>
                </a:solidFill>
                <a:latin typeface="Calibri"/>
              </a:rPr>
              <a:t>Phase 2  ·  Month 3–6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697480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9"/>
                </a:solidFill>
                <a:latin typeface="Calibri"/>
              </a:rPr>
              <a:t>Integrate live opportunity data feeds from Safaricom, ALX, Equity Bank partner APIs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140"/>
                </a:solidFill>
                <a:latin typeface="Calibri"/>
              </a:rPr>
              <a:t>Phase 3  ·  Month 6–9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246120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9"/>
                </a:solidFill>
                <a:latin typeface="Calibri"/>
              </a:rPr>
              <a:t>Launch M-PESA premium membership tier (KES 99/mo) + sponsored listing revenue 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140"/>
                </a:solidFill>
                <a:latin typeface="Calibri"/>
              </a:rPr>
              <a:t>Phase 4  ·  Month 9–12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794760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9"/>
                </a:solidFill>
                <a:latin typeface="Calibri"/>
              </a:rPr>
              <a:t>Reach 50,000 registered members; publish Kenya Youth Opportunity Report (KNBS data + ours)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434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140"/>
                </a:solidFill>
                <a:latin typeface="Calibri"/>
              </a:rPr>
              <a:t>Phase 5  ·  Year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343400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9"/>
                </a:solidFill>
                <a:latin typeface="Calibri"/>
              </a:rPr>
              <a:t>Expand to Uganda, Tanzania, Rwanda — replicate model with local partner organisations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140"/>
                </a:solidFill>
                <a:latin typeface="Calibri"/>
              </a:rPr>
              <a:t>// 07 — BUDGET &amp;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140"/>
                </a:solidFill>
                <a:latin typeface="Calibri"/>
              </a:rPr>
              <a:t>Funding Requirements — Year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27432"/>
          </a:xfrm>
          <a:prstGeom prst="rect">
            <a:avLst/>
          </a:prstGeom>
          <a:solidFill>
            <a:srgbClr val="0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AB7A"/>
                </a:solidFill>
                <a:latin typeface="Calibri"/>
              </a:rPr>
              <a:t>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1600200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AB7A"/>
                </a:solidFill>
                <a:latin typeface="Calibri"/>
              </a:rPr>
              <a:t>Amount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600200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AB7A"/>
                </a:solidFill>
                <a:latin typeface="Calibri"/>
              </a:rPr>
              <a:t>Justification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93392"/>
            <a:ext cx="11064240" cy="18288"/>
          </a:xfrm>
          <a:prstGeom prst="rect">
            <a:avLst/>
          </a:prstGeom>
          <a:solidFill>
            <a:srgbClr val="7AA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84831"/>
            <a:ext cx="2743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5E9"/>
                </a:solidFill>
                <a:latin typeface="Calibri"/>
              </a:rPr>
              <a:t>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084831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FF66"/>
                </a:solidFill>
                <a:latin typeface="Calibri"/>
              </a:rPr>
              <a:t>KES 1,800,000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084831"/>
            <a:ext cx="61264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5E9"/>
                </a:solidFill>
                <a:latin typeface="Calibri"/>
              </a:rPr>
              <a:t>Backend engineer + frontend developer — 12-month contracts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42031"/>
            <a:ext cx="2743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5E9"/>
                </a:solidFill>
                <a:latin typeface="Calibri"/>
              </a:rPr>
              <a:t>Cloud 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542031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FF66"/>
                </a:solidFill>
                <a:latin typeface="Calibri"/>
              </a:rPr>
              <a:t>KES 240,000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542031"/>
            <a:ext cx="61264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5E9"/>
                </a:solidFill>
                <a:latin typeface="Calibri"/>
              </a:rPr>
              <a:t>Azure Static Web Apps scale tier + Functions compute + Firestore reads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99231"/>
            <a:ext cx="2743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5E9"/>
                </a:solidFill>
                <a:latin typeface="Calibri"/>
              </a:rPr>
              <a:t>Partnerships &amp; BD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999231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FF66"/>
                </a:solidFill>
                <a:latin typeface="Calibri"/>
              </a:rPr>
              <a:t>KES 360,000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999231"/>
            <a:ext cx="61264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5E9"/>
                </a:solidFill>
                <a:latin typeface="Calibri"/>
              </a:rPr>
              <a:t>Business development lead for corporate partnership negotiations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56431"/>
            <a:ext cx="2743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5E9"/>
                </a:solidFill>
                <a:latin typeface="Calibri"/>
              </a:rPr>
              <a:t>Marketing &amp; 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456431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FF66"/>
                </a:solidFill>
                <a:latin typeface="Calibri"/>
              </a:rPr>
              <a:t>KES 480,000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456431"/>
            <a:ext cx="61264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5E9"/>
                </a:solidFill>
                <a:latin typeface="Calibri"/>
              </a:rPr>
              <a:t>County-level outreach campaigns, social media, university activations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13631"/>
            <a:ext cx="2743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5E9"/>
                </a:solidFill>
                <a:latin typeface="Calibri"/>
              </a:rPr>
              <a:t>Legal &amp;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913631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FF66"/>
                </a:solidFill>
                <a:latin typeface="Calibri"/>
              </a:rPr>
              <a:t>KES 120,000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913631"/>
            <a:ext cx="61264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5E9"/>
                </a:solidFill>
                <a:latin typeface="Calibri"/>
              </a:rPr>
              <a:t>Entity registration, GDPR/DPA Kenya compliance, contract templates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70831"/>
            <a:ext cx="2743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5E9"/>
                </a:solidFill>
                <a:latin typeface="Calibri"/>
              </a:rPr>
              <a:t>Contingency (10%)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370831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FF66"/>
                </a:solidFill>
                <a:latin typeface="Calibri"/>
              </a:rPr>
              <a:t>KES 300,000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370831"/>
            <a:ext cx="61264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5E9"/>
                </a:solidFill>
                <a:latin typeface="Calibri"/>
              </a:rPr>
              <a:t>Buffer for unexpected scaling costs or partnership opportunities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828031"/>
            <a:ext cx="2743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TOTAL 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4828031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KES 3,300,000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828031"/>
            <a:ext cx="61264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700"/>
                </a:solidFill>
                <a:latin typeface="Calibri"/>
              </a:rPr>
              <a:t>~USD 25,500  ·  12-month runway to 50,000 members and revenue break-even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140"/>
                </a:solidFill>
                <a:latin typeface="Calibri"/>
              </a:rPr>
              <a:t>// 08 — EXPECTED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140"/>
                </a:solidFill>
                <a:latin typeface="Calibri"/>
              </a:rPr>
              <a:t>Measurable Outcomes for Kenya's Youth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27432"/>
          </a:xfrm>
          <a:prstGeom prst="rect">
            <a:avLst/>
          </a:prstGeom>
          <a:solidFill>
            <a:srgbClr val="0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2286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140"/>
                </a:solidFill>
                <a:latin typeface="Calibri"/>
              </a:rPr>
              <a:t>50,000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600200"/>
            <a:ext cx="8778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9"/>
                </a:solidFill>
                <a:latin typeface="Calibri"/>
              </a:rPr>
              <a:t>Registered youth members accessing verified opportunities by Month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6272"/>
            <a:ext cx="2286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140"/>
                </a:solidFill>
                <a:latin typeface="Calibri"/>
              </a:rPr>
              <a:t>30+ Counties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176272"/>
            <a:ext cx="8778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9"/>
                </a:solidFill>
                <a:latin typeface="Calibri"/>
              </a:rPr>
              <a:t>Geographic coverage — from Nairobi to Turkana, Kisumu to Mombasa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52344"/>
            <a:ext cx="2286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140"/>
                </a:solidFill>
                <a:latin typeface="Calibri"/>
              </a:rPr>
              <a:t>KES 1B+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752344"/>
            <a:ext cx="8778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9"/>
                </a:solidFill>
                <a:latin typeface="Calibri"/>
              </a:rPr>
              <a:t>Total opportunity value surfaced (prize money, internship salaries, scholarship grants)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28416"/>
            <a:ext cx="2286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140"/>
                </a:solidFill>
                <a:latin typeface="Calibri"/>
              </a:rPr>
              <a:t>32M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328416"/>
            <a:ext cx="8778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9"/>
                </a:solidFill>
                <a:latin typeface="Calibri"/>
              </a:rPr>
              <a:t>M-PESA infrastructure reaches every Kenyan — zero payment friction for youth in any county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04488"/>
            <a:ext cx="2286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140"/>
                </a:solidFill>
                <a:latin typeface="Calibri"/>
              </a:rPr>
              <a:t>1st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904488"/>
            <a:ext cx="8778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9"/>
                </a:solidFill>
                <a:latin typeface="Calibri"/>
              </a:rPr>
              <a:t>First behavioural data set on Kenyan youth opportunity access — open to KNBS and partners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80560"/>
            <a:ext cx="2286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140"/>
                </a:solidFill>
                <a:latin typeface="Calibri"/>
              </a:rPr>
              <a:t>100+ Startups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480560"/>
            <a:ext cx="8778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9"/>
                </a:solidFill>
                <a:latin typeface="Calibri"/>
              </a:rPr>
              <a:t>Youth ventures showcased and connected to investors, mentors, and corporate partners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solidFill>
            <a:srgbClr val="0A200A"/>
          </a:solidFill>
          <a:ln>
            <a:solidFill>
              <a:srgbClr val="00B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>
                <a:solidFill>
                  <a:srgbClr val="00FF66"/>
                </a:solidFill>
                <a:latin typeface="Calibri"/>
              </a:rPr>
              <a:t>  Impact is already happening — Firebase Firestore shows live member registrations, opportunity clicks, and newsletter subscribers from Day 1 of launch.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140"/>
                </a:solidFill>
                <a:latin typeface="Calibri"/>
              </a:rPr>
              <a:t>// 09 — TEAM &amp; CREDENTIALS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140"/>
                </a:solidFill>
                <a:latin typeface="Calibri"/>
              </a:rPr>
              <a:t>Who Is Building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27432"/>
          </a:xfrm>
          <a:prstGeom prst="rect">
            <a:avLst/>
          </a:prstGeom>
          <a:solidFill>
            <a:srgbClr val="0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F5E9"/>
                </a:solidFill>
                <a:latin typeface="Calibri"/>
              </a:rPr>
              <a:t>Ian Kinoti — Founder &amp; Lead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9"/>
                </a:solidFill>
                <a:latin typeface="Calibri"/>
              </a:rPr>
              <a:t>•  Full-stack JavaScript engineer with experience in Vite, Node.js, Firebase, and Azure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24912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9"/>
                </a:solidFill>
                <a:latin typeface="Calibri"/>
              </a:rPr>
              <a:t>•  Built and shipped Ankino Youth Hub end-to-end — frontend, backend, AI layer, and CI/CD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9544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9"/>
                </a:solidFill>
                <a:latin typeface="Calibri"/>
              </a:rPr>
              <a:t>•  Integrated Safaricom Daraja API (OAuth 2.0 + STK Push) in a live production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94176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9"/>
                </a:solidFill>
                <a:latin typeface="Calibri"/>
              </a:rPr>
              <a:t>•  Designed and deployed a custom AI chatbot trained on Kenya tech and Safaricom ecosystem 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78808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9"/>
                </a:solidFill>
                <a:latin typeface="Calibri"/>
              </a:rPr>
              <a:t>•  GitHub: github.com/iankinoti-cloud  ·  Contact: kinotiian12@gmail.com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035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AAB7A"/>
                </a:solidFill>
                <a:latin typeface="Calibri"/>
              </a:rPr>
              <a:t>Hiring plan: backend engineer (Month 1), growth lead (Month 3), partnerships manager (Month 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solidFill>
            <a:srgbClr val="0A200A"/>
          </a:solidFill>
          <a:ln>
            <a:solidFill>
              <a:srgbClr val="00B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>
                <a:solidFill>
                  <a:srgbClr val="00FF66"/>
                </a:solidFill>
                <a:latin typeface="Calibri"/>
              </a:rPr>
              <a:t>  The MVP was built solo — proving execution ability, not just vision. Every line of code is live and testable at the GitHub repository above.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140"/>
                </a:solidFill>
                <a:latin typeface="Calibri"/>
              </a:rPr>
              <a:t>// 10 — 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E8F5E9"/>
                </a:solidFill>
                <a:latin typeface="Calibri"/>
              </a:rPr>
              <a:t>Partner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00B140"/>
                </a:solidFill>
                <a:latin typeface="Calibri"/>
              </a:rPr>
              <a:t>Ankino Youth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7AAB7A"/>
                </a:solidFill>
                <a:latin typeface="Calibri"/>
              </a:rPr>
              <a:t>Kenya's youth talent gap is the biggest solvable problem in our ecosystem.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611880"/>
            <a:ext cx="4114800" cy="36576"/>
          </a:xfrm>
          <a:prstGeom prst="rect">
            <a:avLst/>
          </a:prstGeom>
          <a:solidFill>
            <a:srgbClr val="0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F5E9"/>
                </a:solidFill>
                <a:latin typeface="Calibri"/>
              </a:rPr>
              <a:t>▶   Seed funding of KES 3.3M to scale from MVP to 50,000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79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F5E9"/>
                </a:solidFill>
                <a:latin typeface="Calibri"/>
              </a:rPr>
              <a:t>▶   Introductions to Safaricom, Equity Bank, and ALX Africa for live data partnerships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19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F5E9"/>
                </a:solidFill>
                <a:latin typeface="Calibri"/>
              </a:rPr>
              <a:t>▶   Mentorship from Kenya tech founders and operators who have scaled community platforms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978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AB7A"/>
                </a:solidFill>
                <a:latin typeface="Calibri"/>
              </a:rPr>
              <a:t>kinotiian12@gmail.com   ·   github.com/iankinoti-cloud/ankino-youth-hub-app   ·   Built. Deployed. Ready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